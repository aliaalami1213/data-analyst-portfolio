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Maven Pro" pitchFamily="2" charset="77"/>
      <p:regular r:id="rId23"/>
      <p:bold r:id="rId24"/>
    </p:embeddedFont>
    <p:embeddedFont>
      <p:font typeface="Maven Pro Medium" pitchFamily="2" charset="77"/>
      <p:regular r:id="rId25"/>
      <p:bold r:id="rId26"/>
    </p:embeddedFont>
    <p:embeddedFont>
      <p:font typeface="Maven Pro SemiBold" pitchFamily="2" charset="77"/>
      <p:regular r:id="rId27"/>
      <p:bold r:id="rId28"/>
    </p:embeddedFont>
    <p:embeddedFont>
      <p:font typeface="Nunito" pitchFamily="2" charset="77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49" d="100"/>
          <a:sy n="149" d="100"/>
        </p:scale>
        <p:origin x="5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78ca327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78ca327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7308793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7308793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730879351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9730879351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7a37cf8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7a37cf8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a4146f2a2_3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a4146f2a2_3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7b881d3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7b881d3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730879351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730879351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730879351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9730879351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a4146f2a2_4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9a4146f2a2_4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a4146f2a2_4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9a4146f2a2_4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97c45a00f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97c45a00f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a4146f2a2_4_1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9a4146f2a2_4_1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a4146f2a2_3_3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9a4146f2a2_3_3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97c45a00f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d97c45a00f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97c45a00f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97c45a00f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146f2a2_12_0)">
  <p:cSld name="Title and two columns (g39a4146f2a2_12_0)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146f2a2_19_0)">
  <p:cSld name="Title and two columns (g39a4146f2a2_19_0)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1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146f2a2_27_0)">
  <p:cSld name="Title and two columns (g39a4146f2a2_27_0)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7" name="Google Shape;287;p1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307b96f_6_0)">
  <p:cSld name="Title and two columns (g39a4307b96f_6_0)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1" name="Google Shape;291;p16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2" name="Google Shape;292;p1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307b96f_13_0)">
  <p:cSld name="Title and two columns (g39a4307b96f_13_0)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7" name="Google Shape;297;p1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9a4307b96f_45_0)">
  <p:cSld name="Title and two columns (g39a4307b96f_45_0)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>
            <a:spLocks noGrp="1"/>
          </p:cNvSpPr>
          <p:nvPr>
            <p:ph type="ctrTitle"/>
          </p:nvPr>
        </p:nvSpPr>
        <p:spPr>
          <a:xfrm>
            <a:off x="824000" y="1613825"/>
            <a:ext cx="67476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Final Presentation:</a:t>
            </a:r>
            <a:endParaRPr sz="5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California Home Price Prediction</a:t>
            </a:r>
            <a:endParaRPr sz="3500"/>
          </a:p>
        </p:txBody>
      </p:sp>
      <p:sp>
        <p:nvSpPr>
          <p:cNvPr id="308" name="Google Shape;308;p19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83199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Alia Alami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/>
          <p:nvPr/>
        </p:nvSpPr>
        <p:spPr>
          <a:xfrm>
            <a:off x="1141225" y="804350"/>
            <a:ext cx="72246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96"/>
              <a:buFont typeface="Georgia"/>
              <a:buNone/>
            </a:pPr>
            <a:r>
              <a:rPr lang="en"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The Business Question</a:t>
            </a:r>
            <a:endParaRPr sz="2800" i="0" u="none" strike="noStrike" cap="none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71125" y="1484149"/>
            <a:ext cx="82017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82"/>
              <a:buFont typeface="Georgia"/>
              <a:buNone/>
            </a:pPr>
            <a:r>
              <a:rPr lang="en" sz="1482" i="1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Can we accurately forecast California home values from neighborhood-level demographics and geography</a:t>
            </a:r>
            <a:r>
              <a:rPr lang="en" sz="1482" i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; </a:t>
            </a:r>
            <a:r>
              <a:rPr lang="en" sz="1482" i="1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and use that </a:t>
            </a:r>
            <a:r>
              <a:rPr lang="en" sz="1482" i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to</a:t>
            </a:r>
            <a:r>
              <a:rPr lang="en" sz="1482" i="1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482" i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forecast</a:t>
            </a:r>
            <a:r>
              <a:rPr lang="en" sz="1482" i="1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price?</a:t>
            </a:r>
            <a:endParaRPr sz="1482" i="1" u="none" strike="noStrike" cap="none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15" name="Google Shape;315;p20"/>
          <p:cNvGrpSpPr/>
          <p:nvPr/>
        </p:nvGrpSpPr>
        <p:grpSpPr>
          <a:xfrm>
            <a:off x="3109500" y="2374925"/>
            <a:ext cx="2934950" cy="2299800"/>
            <a:chOff x="157975" y="2374925"/>
            <a:chExt cx="2934950" cy="2299800"/>
          </a:xfrm>
        </p:grpSpPr>
        <p:sp>
          <p:nvSpPr>
            <p:cNvPr id="316" name="Google Shape;316;p20"/>
            <p:cNvSpPr/>
            <p:nvPr/>
          </p:nvSpPr>
          <p:spPr>
            <a:xfrm>
              <a:off x="157975" y="2374925"/>
              <a:ext cx="2880600" cy="229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185850" y="2411362"/>
              <a:ext cx="28527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A2540"/>
                </a:buClr>
                <a:buSzPts val="1170"/>
                <a:buFont typeface="Calibri"/>
                <a:buNone/>
              </a:pPr>
              <a:r>
                <a:rPr lang="en" sz="1970" b="1" i="0" u="none" strike="noStrike" cap="none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Market backdrop</a:t>
              </a:r>
              <a:endParaRPr sz="1970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240225" y="3107525"/>
              <a:ext cx="2852700" cy="83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California housing prices vary massively (up to ~30x) depending on location, income, and density.</a:t>
              </a:r>
              <a:endParaRPr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936"/>
                <a:buFont typeface="Calibri"/>
                <a:buNone/>
              </a:pPr>
              <a:endParaRPr sz="936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19" name="Google Shape;319;p20"/>
          <p:cNvGrpSpPr/>
          <p:nvPr/>
        </p:nvGrpSpPr>
        <p:grpSpPr>
          <a:xfrm>
            <a:off x="38813" y="2374912"/>
            <a:ext cx="3019362" cy="2299811"/>
            <a:chOff x="3014588" y="2374925"/>
            <a:chExt cx="3019362" cy="2299811"/>
          </a:xfrm>
        </p:grpSpPr>
        <p:sp>
          <p:nvSpPr>
            <p:cNvPr id="320" name="Google Shape;320;p20"/>
            <p:cNvSpPr/>
            <p:nvPr/>
          </p:nvSpPr>
          <p:spPr>
            <a:xfrm>
              <a:off x="3099675" y="2374925"/>
              <a:ext cx="2880600" cy="229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099050" y="2411363"/>
              <a:ext cx="29349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A2540"/>
                </a:buClr>
                <a:buSzPts val="1170"/>
                <a:buFont typeface="Calibri"/>
                <a:buNone/>
              </a:pPr>
              <a:r>
                <a:rPr lang="en" sz="1870" b="1" i="0" u="none" strike="noStrike" cap="none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Who this matters to</a:t>
              </a:r>
              <a:endParaRPr sz="1870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3014588" y="2677936"/>
              <a:ext cx="2852700" cy="19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Maven Pro"/>
                <a:buChar char="●"/>
              </a:pPr>
              <a:r>
                <a:rPr lang="en" sz="1100" b="1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Home Buyers</a:t>
              </a: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: Avoid overpaying and identify undervalued neighborhoods</a:t>
              </a:r>
              <a:endParaRPr sz="1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Maven Pro"/>
                <a:buChar char="●"/>
              </a:pPr>
              <a:r>
                <a:rPr lang="en" sz="1100" b="1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Home Sellers/ Real Estate Agents</a:t>
              </a: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: price homes competitively to sell faster and maximize profit</a:t>
              </a:r>
              <a:endParaRPr sz="1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Maven Pro"/>
                <a:buChar char="●"/>
              </a:pPr>
              <a:r>
                <a:rPr lang="en" sz="1100" b="1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Investors / Flippers</a:t>
              </a: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: </a:t>
              </a:r>
              <a:endParaRPr sz="1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Spot opportunities earlier</a:t>
              </a:r>
              <a:endParaRPr sz="1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36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6080225" y="2374925"/>
            <a:ext cx="2988052" cy="2299800"/>
            <a:chOff x="6041375" y="2374925"/>
            <a:chExt cx="2988052" cy="2299800"/>
          </a:xfrm>
        </p:grpSpPr>
        <p:sp>
          <p:nvSpPr>
            <p:cNvPr id="324" name="Google Shape;324;p20"/>
            <p:cNvSpPr/>
            <p:nvPr/>
          </p:nvSpPr>
          <p:spPr>
            <a:xfrm>
              <a:off x="6041375" y="2374925"/>
              <a:ext cx="2880600" cy="2299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6176727" y="2411362"/>
              <a:ext cx="28527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A2540"/>
                </a:buClr>
                <a:buSzPts val="1170"/>
                <a:buFont typeface="Calibri"/>
                <a:buNone/>
              </a:pPr>
              <a:r>
                <a:rPr lang="en" sz="1870" b="1" i="0" u="none" strike="noStrike" cap="none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Why</a:t>
              </a:r>
              <a:endParaRPr sz="1870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6176725" y="2726827"/>
              <a:ext cx="2852700" cy="15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936"/>
                <a:buFont typeface="Calibri"/>
                <a:buNone/>
              </a:pPr>
              <a:r>
                <a:rPr lang="en" sz="12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1990 California housing dataset remains a benchmark, capturing the core drivers of home values, income, location, and density, that still shape pricing today.</a:t>
              </a:r>
              <a:endParaRPr sz="936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>
            <a:spLocks noGrp="1"/>
          </p:cNvSpPr>
          <p:nvPr>
            <p:ph type="title"/>
          </p:nvPr>
        </p:nvSpPr>
        <p:spPr>
          <a:xfrm>
            <a:off x="1141500" y="805575"/>
            <a:ext cx="70305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332" name="Google Shape;332;p21"/>
          <p:cNvSpPr txBox="1">
            <a:spLocks noGrp="1"/>
          </p:cNvSpPr>
          <p:nvPr>
            <p:ph type="body" idx="2"/>
          </p:nvPr>
        </p:nvSpPr>
        <p:spPr>
          <a:xfrm>
            <a:off x="1141500" y="1509675"/>
            <a:ext cx="7951500" cy="14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ven Pro"/>
              <a:buChar char="●"/>
            </a:pPr>
            <a:r>
              <a:rPr lang="en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Source: 1990 U.S. Census describing housing conditions across California districts (block groups). </a:t>
            </a:r>
            <a:endParaRPr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ven Pro"/>
              <a:buChar char="●"/>
            </a:pPr>
            <a:r>
              <a:rPr lang="en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Each row represents one geographic district and includes aggregated housing metrics and demographic indicators. </a:t>
            </a:r>
            <a:endParaRPr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457200" lvl="0" indent="-311150" algn="l" rtl="0">
              <a:lnSpc>
                <a:spcPct val="14181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ven Pro"/>
              <a:buChar char="●"/>
            </a:pPr>
            <a:r>
              <a:rPr lang="en">
                <a:solidFill>
                  <a:srgbClr val="1E293B"/>
                </a:solidFill>
                <a:latin typeface="Maven Pro"/>
                <a:ea typeface="Maven Pro"/>
                <a:cs typeface="Maven Pro"/>
                <a:sym typeface="Maven Pro"/>
              </a:rPr>
              <a:t>The target variable is median_house_value,  the median home sale price within that district.</a:t>
            </a:r>
            <a:endParaRPr>
              <a:solidFill>
                <a:srgbClr val="1E293B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33" name="Google Shape;333;p21"/>
          <p:cNvGrpSpPr/>
          <p:nvPr/>
        </p:nvGrpSpPr>
        <p:grpSpPr>
          <a:xfrm>
            <a:off x="6077707" y="2875701"/>
            <a:ext cx="1854000" cy="1854000"/>
            <a:chOff x="6077707" y="1644751"/>
            <a:chExt cx="1854000" cy="1854000"/>
          </a:xfrm>
        </p:grpSpPr>
        <p:sp>
          <p:nvSpPr>
            <p:cNvPr id="334" name="Google Shape;334;p21"/>
            <p:cNvSpPr/>
            <p:nvPr/>
          </p:nvSpPr>
          <p:spPr>
            <a:xfrm>
              <a:off x="6077707" y="1644751"/>
              <a:ext cx="1854000" cy="1854000"/>
            </a:xfrm>
            <a:prstGeom prst="ellipse">
              <a:avLst/>
            </a:prstGeom>
            <a:solidFill>
              <a:srgbClr val="085630"/>
            </a:solidFill>
            <a:ln w="28575" cap="flat" cmpd="sng">
              <a:solidFill>
                <a:srgbClr val="65F0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6426575" y="2734440"/>
              <a:ext cx="12906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Data Source Year</a:t>
              </a:r>
              <a:endParaRPr sz="1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36" name="Google Shape;336;p21"/>
          <p:cNvSpPr/>
          <p:nvPr/>
        </p:nvSpPr>
        <p:spPr>
          <a:xfrm>
            <a:off x="4455905" y="2875701"/>
            <a:ext cx="1854000" cy="1854000"/>
          </a:xfrm>
          <a:prstGeom prst="ellipse">
            <a:avLst/>
          </a:prstGeom>
          <a:solidFill>
            <a:srgbClr val="0B713F"/>
          </a:solidFill>
          <a:ln w="28575" cap="flat" cmpd="sng">
            <a:solidFill>
              <a:srgbClr val="65F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2834102" y="2875712"/>
            <a:ext cx="1854000" cy="1854000"/>
          </a:xfrm>
          <a:prstGeom prst="ellipse">
            <a:avLst/>
          </a:prstGeom>
          <a:solidFill>
            <a:srgbClr val="0B7743"/>
          </a:solidFill>
          <a:ln w="28575" cap="flat" cmpd="sng">
            <a:solidFill>
              <a:srgbClr val="65F0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38" name="Google Shape;338;p21"/>
          <p:cNvGrpSpPr/>
          <p:nvPr/>
        </p:nvGrpSpPr>
        <p:grpSpPr>
          <a:xfrm>
            <a:off x="1212300" y="2875712"/>
            <a:ext cx="1854000" cy="1854000"/>
            <a:chOff x="1212300" y="1644762"/>
            <a:chExt cx="1854000" cy="1854000"/>
          </a:xfrm>
        </p:grpSpPr>
        <p:sp>
          <p:nvSpPr>
            <p:cNvPr id="339" name="Google Shape;339;p21"/>
            <p:cNvSpPr/>
            <p:nvPr/>
          </p:nvSpPr>
          <p:spPr>
            <a:xfrm>
              <a:off x="1212300" y="1644762"/>
              <a:ext cx="1854000" cy="1854000"/>
            </a:xfrm>
            <a:prstGeom prst="ellipse">
              <a:avLst/>
            </a:prstGeom>
            <a:solidFill>
              <a:srgbClr val="0C8148"/>
            </a:solidFill>
            <a:ln w="28575" cap="flat" cmpd="sng">
              <a:solidFill>
                <a:srgbClr val="65F0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1275350" y="2311050"/>
              <a:ext cx="16728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20,640</a:t>
              </a:r>
              <a:endParaRPr sz="2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41" name="Google Shape;341;p21"/>
          <p:cNvSpPr txBox="1"/>
          <p:nvPr/>
        </p:nvSpPr>
        <p:spPr>
          <a:xfrm>
            <a:off x="1494002" y="3965400"/>
            <a:ext cx="12906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Distinct Observations</a:t>
            </a:r>
            <a:endParaRPr sz="10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2924688" y="3542000"/>
            <a:ext cx="1672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10</a:t>
            </a:r>
            <a:endParaRPr sz="2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3434088" y="3965400"/>
            <a:ext cx="7446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Features</a:t>
            </a:r>
            <a:endParaRPr sz="10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546488" y="3542000"/>
            <a:ext cx="1672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207</a:t>
            </a:r>
            <a:endParaRPr sz="2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168300" y="3574850"/>
            <a:ext cx="16728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1990</a:t>
            </a:r>
            <a:endParaRPr sz="2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4832108" y="3965400"/>
            <a:ext cx="11922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Missing Values</a:t>
            </a:r>
            <a:endParaRPr sz="10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617225" y="1597850"/>
            <a:ext cx="4117200" cy="2933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Coordinates: Longitude, Latitude of the District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Median age of houses in the district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Total number of rooms across homes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Total bedrooms*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Total population in the district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Number occupied housing units (households) 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609125" y="1597850"/>
            <a:ext cx="4117200" cy="411900"/>
          </a:xfrm>
          <a:prstGeom prst="rect">
            <a:avLst/>
          </a:prstGeom>
          <a:solidFill>
            <a:srgbClr val="1D7E75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GEOGRAPHIC &amp; HOUSING FEATURES</a:t>
            </a:r>
            <a:endParaRPr sz="1500"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3" name="Google Shape;353;p22"/>
          <p:cNvSpPr txBox="1">
            <a:spLocks noGrp="1"/>
          </p:cNvSpPr>
          <p:nvPr>
            <p:ph type="title"/>
          </p:nvPr>
        </p:nvSpPr>
        <p:spPr>
          <a:xfrm>
            <a:off x="1144400" y="790400"/>
            <a:ext cx="70305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FEATURES &amp; TARGET VARIABLE</a:t>
            </a:r>
            <a:endParaRPr sz="2820"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2"/>
          </p:nvPr>
        </p:nvSpPr>
        <p:spPr>
          <a:xfrm>
            <a:off x="4903650" y="1597875"/>
            <a:ext cx="3979500" cy="16941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Median household income (scaled)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Maven Pro Medium"/>
                <a:ea typeface="Maven Pro Medium"/>
                <a:cs typeface="Maven Pro Medium"/>
                <a:sym typeface="Maven Pro Medium"/>
              </a:rPr>
              <a:t>Ocean Proximity (Categorical) </a:t>
            </a: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grpSp>
        <p:nvGrpSpPr>
          <p:cNvPr id="355" name="Google Shape;355;p22"/>
          <p:cNvGrpSpPr/>
          <p:nvPr/>
        </p:nvGrpSpPr>
        <p:grpSpPr>
          <a:xfrm>
            <a:off x="4903301" y="3451825"/>
            <a:ext cx="3979327" cy="1079725"/>
            <a:chOff x="4944075" y="3268850"/>
            <a:chExt cx="3822600" cy="1079725"/>
          </a:xfrm>
        </p:grpSpPr>
        <p:sp>
          <p:nvSpPr>
            <p:cNvPr id="356" name="Google Shape;356;p22"/>
            <p:cNvSpPr/>
            <p:nvPr/>
          </p:nvSpPr>
          <p:spPr>
            <a:xfrm>
              <a:off x="4944075" y="3291975"/>
              <a:ext cx="3822600" cy="1056600"/>
            </a:xfrm>
            <a:prstGeom prst="flowChartAlternateProcess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7" name="Google Shape;357;p22"/>
            <p:cNvSpPr txBox="1"/>
            <p:nvPr/>
          </p:nvSpPr>
          <p:spPr>
            <a:xfrm>
              <a:off x="4995425" y="3268850"/>
              <a:ext cx="34305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Median House Sale Price in a District</a:t>
              </a:r>
              <a:endParaRPr sz="1300">
                <a:solidFill>
                  <a:schemeClr val="dk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  <p:sp>
        <p:nvSpPr>
          <p:cNvPr id="358" name="Google Shape;358;p22"/>
          <p:cNvSpPr/>
          <p:nvPr/>
        </p:nvSpPr>
        <p:spPr>
          <a:xfrm>
            <a:off x="4415750" y="3501525"/>
            <a:ext cx="487800" cy="9090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5826150" y="3039925"/>
            <a:ext cx="1689600" cy="4119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5925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655250" y="4666950"/>
            <a:ext cx="81504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*This field had 207 missing values which was filled with the median value</a:t>
            </a:r>
            <a:endParaRPr sz="13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4903650" y="1597850"/>
            <a:ext cx="3979500" cy="411900"/>
          </a:xfrm>
          <a:prstGeom prst="rect">
            <a:avLst/>
          </a:prstGeom>
          <a:solidFill>
            <a:srgbClr val="1D7E75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ECONOMIC &amp; CATEGORICAL FEATURES</a:t>
            </a:r>
            <a:endParaRPr sz="1500"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4903875" y="3451825"/>
            <a:ext cx="3979200" cy="411900"/>
          </a:xfrm>
          <a:prstGeom prst="rect">
            <a:avLst/>
          </a:prstGeom>
          <a:solidFill>
            <a:srgbClr val="1D7E75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TARGET VARIABLE</a:t>
            </a:r>
            <a:endParaRPr sz="1500"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>
            <a:spLocks noGrp="1"/>
          </p:cNvSpPr>
          <p:nvPr>
            <p:ph type="title"/>
          </p:nvPr>
        </p:nvSpPr>
        <p:spPr>
          <a:xfrm>
            <a:off x="1227100" y="604275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grpSp>
        <p:nvGrpSpPr>
          <p:cNvPr id="368" name="Google Shape;368;p23"/>
          <p:cNvGrpSpPr/>
          <p:nvPr/>
        </p:nvGrpSpPr>
        <p:grpSpPr>
          <a:xfrm>
            <a:off x="761925" y="1509000"/>
            <a:ext cx="4762500" cy="857400"/>
            <a:chOff x="762000" y="1333500"/>
            <a:chExt cx="4762500" cy="857400"/>
          </a:xfrm>
        </p:grpSpPr>
        <p:sp>
          <p:nvSpPr>
            <p:cNvPr id="369" name="Google Shape;369;p23"/>
            <p:cNvSpPr/>
            <p:nvPr/>
          </p:nvSpPr>
          <p:spPr>
            <a:xfrm>
              <a:off x="762000" y="1333500"/>
              <a:ext cx="4762500" cy="857400"/>
            </a:xfrm>
            <a:prstGeom prst="roundRect">
              <a:avLst>
                <a:gd name="adj" fmla="val 8888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762000" y="1333500"/>
              <a:ext cx="571500" cy="857400"/>
            </a:xfrm>
            <a:prstGeom prst="roundRect">
              <a:avLst>
                <a:gd name="adj" fmla="val 13333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1" name="Google Shape;371;p23"/>
            <p:cNvSpPr txBox="1"/>
            <p:nvPr/>
          </p:nvSpPr>
          <p:spPr>
            <a:xfrm>
              <a:off x="762000" y="1333500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01</a:t>
              </a:r>
              <a:endParaRPr sz="2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2" name="Google Shape;372;p23"/>
            <p:cNvSpPr txBox="1"/>
            <p:nvPr/>
          </p:nvSpPr>
          <p:spPr>
            <a:xfrm>
              <a:off x="1476375" y="1333500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Predict house value for any California tract.</a:t>
              </a:r>
              <a:endParaRPr sz="140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  <p:grpSp>
        <p:nvGrpSpPr>
          <p:cNvPr id="373" name="Google Shape;373;p23"/>
          <p:cNvGrpSpPr/>
          <p:nvPr/>
        </p:nvGrpSpPr>
        <p:grpSpPr>
          <a:xfrm>
            <a:off x="599641" y="191451"/>
            <a:ext cx="999312" cy="999312"/>
            <a:chOff x="348199" y="179450"/>
            <a:chExt cx="1116300" cy="1116300"/>
          </a:xfrm>
        </p:grpSpPr>
        <p:sp>
          <p:nvSpPr>
            <p:cNvPr id="374" name="Google Shape;374;p2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5" name="Google Shape;375;p2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76" name="Google Shape;376;p23"/>
          <p:cNvGrpSpPr/>
          <p:nvPr/>
        </p:nvGrpSpPr>
        <p:grpSpPr>
          <a:xfrm>
            <a:off x="761925" y="2509125"/>
            <a:ext cx="4762500" cy="857400"/>
            <a:chOff x="762000" y="2333625"/>
            <a:chExt cx="4762500" cy="857400"/>
          </a:xfrm>
        </p:grpSpPr>
        <p:sp>
          <p:nvSpPr>
            <p:cNvPr id="377" name="Google Shape;377;p23"/>
            <p:cNvSpPr/>
            <p:nvPr/>
          </p:nvSpPr>
          <p:spPr>
            <a:xfrm>
              <a:off x="762000" y="2333625"/>
              <a:ext cx="4762500" cy="857400"/>
            </a:xfrm>
            <a:prstGeom prst="roundRect">
              <a:avLst>
                <a:gd name="adj" fmla="val 8888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762000" y="2333625"/>
              <a:ext cx="571500" cy="857400"/>
            </a:xfrm>
            <a:prstGeom prst="roundRect">
              <a:avLst>
                <a:gd name="adj" fmla="val 13333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79" name="Google Shape;379;p23"/>
            <p:cNvSpPr txBox="1"/>
            <p:nvPr/>
          </p:nvSpPr>
          <p:spPr>
            <a:xfrm>
              <a:off x="762000" y="2333625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02</a:t>
              </a:r>
              <a:endParaRPr sz="2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1476375" y="2333625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Test whether a neural network beats OLS.</a:t>
              </a:r>
              <a:endParaRPr sz="140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  <p:grpSp>
        <p:nvGrpSpPr>
          <p:cNvPr id="381" name="Google Shape;381;p23"/>
          <p:cNvGrpSpPr/>
          <p:nvPr/>
        </p:nvGrpSpPr>
        <p:grpSpPr>
          <a:xfrm>
            <a:off x="761925" y="3509250"/>
            <a:ext cx="4762500" cy="857400"/>
            <a:chOff x="762000" y="3333750"/>
            <a:chExt cx="4762500" cy="857400"/>
          </a:xfrm>
        </p:grpSpPr>
        <p:sp>
          <p:nvSpPr>
            <p:cNvPr id="382" name="Google Shape;382;p23"/>
            <p:cNvSpPr/>
            <p:nvPr/>
          </p:nvSpPr>
          <p:spPr>
            <a:xfrm>
              <a:off x="762000" y="3333750"/>
              <a:ext cx="4762500" cy="857400"/>
            </a:xfrm>
            <a:prstGeom prst="roundRect">
              <a:avLst>
                <a:gd name="adj" fmla="val 8888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762000" y="3333750"/>
              <a:ext cx="571500" cy="857400"/>
            </a:xfrm>
            <a:prstGeom prst="roundRect">
              <a:avLst>
                <a:gd name="adj" fmla="val 13333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762000" y="3333750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03</a:t>
              </a:r>
              <a:endParaRPr sz="20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>
              <a:off x="1476375" y="3333750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Quantify which features drive price and by how much.</a:t>
              </a:r>
              <a:endParaRPr sz="140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  <p:grpSp>
        <p:nvGrpSpPr>
          <p:cNvPr id="386" name="Google Shape;386;p23"/>
          <p:cNvGrpSpPr/>
          <p:nvPr/>
        </p:nvGrpSpPr>
        <p:grpSpPr>
          <a:xfrm>
            <a:off x="5810175" y="1509000"/>
            <a:ext cx="2571900" cy="2857500"/>
            <a:chOff x="5810250" y="1333500"/>
            <a:chExt cx="2571900" cy="2857500"/>
          </a:xfrm>
        </p:grpSpPr>
        <p:sp>
          <p:nvSpPr>
            <p:cNvPr id="387" name="Google Shape;387;p23"/>
            <p:cNvSpPr/>
            <p:nvPr/>
          </p:nvSpPr>
          <p:spPr>
            <a:xfrm>
              <a:off x="5810250" y="1333500"/>
              <a:ext cx="2571900" cy="2857500"/>
            </a:xfrm>
            <a:prstGeom prst="roundRect">
              <a:avLst>
                <a:gd name="adj" fmla="val 4444"/>
              </a:avLst>
            </a:prstGeom>
            <a:solidFill>
              <a:srgbClr val="8DD8D3">
                <a:alpha val="20000"/>
              </a:srgbClr>
            </a:solidFill>
            <a:ln w="9525" cap="flat" cmpd="sng">
              <a:solidFill>
                <a:srgbClr val="1D7E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5810250" y="1333500"/>
              <a:ext cx="2571900" cy="428700"/>
            </a:xfrm>
            <a:prstGeom prst="roundRect">
              <a:avLst>
                <a:gd name="adj" fmla="val 26666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5810250" y="1619250"/>
              <a:ext cx="2571900" cy="1428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90" name="Google Shape;390;p23"/>
            <p:cNvSpPr txBox="1"/>
            <p:nvPr/>
          </p:nvSpPr>
          <p:spPr>
            <a:xfrm>
              <a:off x="5810250" y="1333500"/>
              <a:ext cx="2571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FFFF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METRICS USED</a:t>
              </a:r>
              <a:endParaRPr sz="14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391" name="Google Shape;391;p23"/>
            <p:cNvSpPr txBox="1"/>
            <p:nvPr/>
          </p:nvSpPr>
          <p:spPr>
            <a:xfrm>
              <a:off x="5953125" y="1857375"/>
              <a:ext cx="22860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7E75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R²</a:t>
              </a:r>
              <a:b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</a:br>
              <a: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  <a:t>Share of variance in price; explains price variation.</a:t>
              </a:r>
              <a:endParaRPr sz="1100">
                <a:solidFill>
                  <a:srgbClr val="1F1F1F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7E75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MAE</a:t>
              </a:r>
              <a:b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</a:br>
              <a: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  <a:t>Average prediction error.</a:t>
              </a:r>
              <a:endParaRPr sz="1100">
                <a:solidFill>
                  <a:srgbClr val="1F1F1F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7E75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RMSE</a:t>
              </a:r>
              <a:b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</a:br>
              <a:r>
                <a:rPr lang="en" sz="1100">
                  <a:solidFill>
                    <a:srgbClr val="1F1F1F"/>
                  </a:solidFill>
                  <a:latin typeface="Maven Pro"/>
                  <a:ea typeface="Maven Pro"/>
                  <a:cs typeface="Maven Pro"/>
                  <a:sym typeface="Maven Pro"/>
                </a:rPr>
                <a:t>Penalizes big mistakes (expensive homes).</a:t>
              </a:r>
              <a:endParaRPr sz="1100">
                <a:solidFill>
                  <a:srgbClr val="1F1F1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 txBox="1">
            <a:spLocks noGrp="1"/>
          </p:cNvSpPr>
          <p:nvPr>
            <p:ph type="title"/>
          </p:nvPr>
        </p:nvSpPr>
        <p:spPr>
          <a:xfrm>
            <a:off x="1201225" y="715350"/>
            <a:ext cx="7030500" cy="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DATA OBSERVATIONS </a:t>
            </a:r>
            <a:endParaRPr/>
          </a:p>
        </p:txBody>
      </p:sp>
      <p:grpSp>
        <p:nvGrpSpPr>
          <p:cNvPr id="397" name="Google Shape;397;p24"/>
          <p:cNvGrpSpPr/>
          <p:nvPr/>
        </p:nvGrpSpPr>
        <p:grpSpPr>
          <a:xfrm>
            <a:off x="571500" y="1428750"/>
            <a:ext cx="2524200" cy="1428900"/>
            <a:chOff x="571500" y="1428750"/>
            <a:chExt cx="2524200" cy="1428900"/>
          </a:xfrm>
        </p:grpSpPr>
        <p:sp>
          <p:nvSpPr>
            <p:cNvPr id="398" name="Google Shape;398;p24"/>
            <p:cNvSpPr/>
            <p:nvPr/>
          </p:nvSpPr>
          <p:spPr>
            <a:xfrm>
              <a:off x="571500" y="142875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571500" y="142875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571500" y="142875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GEOGRAPHIC CLUSTERING</a:t>
              </a:r>
              <a:endParaRPr sz="11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01" name="Google Shape;401;p24"/>
            <p:cNvSpPr txBox="1"/>
            <p:nvPr/>
          </p:nvSpPr>
          <p:spPr>
            <a:xfrm>
              <a:off x="666750" y="190500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Long/lat observations are primarily located in central California.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02" name="Google Shape;402;p24"/>
          <p:cNvGrpSpPr/>
          <p:nvPr/>
        </p:nvGrpSpPr>
        <p:grpSpPr>
          <a:xfrm>
            <a:off x="3305175" y="1428750"/>
            <a:ext cx="2524200" cy="1428900"/>
            <a:chOff x="3305175" y="1428750"/>
            <a:chExt cx="2524200" cy="1428900"/>
          </a:xfrm>
        </p:grpSpPr>
        <p:sp>
          <p:nvSpPr>
            <p:cNvPr id="403" name="Google Shape;403;p24"/>
            <p:cNvSpPr/>
            <p:nvPr/>
          </p:nvSpPr>
          <p:spPr>
            <a:xfrm>
              <a:off x="3305175" y="142875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3305175" y="142875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5" name="Google Shape;405;p24"/>
            <p:cNvSpPr txBox="1"/>
            <p:nvPr/>
          </p:nvSpPr>
          <p:spPr>
            <a:xfrm>
              <a:off x="3305175" y="142875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INCOME AS PREDICTOR</a:t>
              </a:r>
              <a:endParaRPr sz="11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06" name="Google Shape;406;p24"/>
            <p:cNvSpPr txBox="1"/>
            <p:nvPr/>
          </p:nvSpPr>
          <p:spPr>
            <a:xfrm>
              <a:off x="3400425" y="190500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Median income shows the strongest correlation with home value; higher income districts command higher prices.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6038850" y="1428750"/>
            <a:ext cx="2524200" cy="1428900"/>
            <a:chOff x="6038850" y="1428750"/>
            <a:chExt cx="2524200" cy="1428900"/>
          </a:xfrm>
        </p:grpSpPr>
        <p:sp>
          <p:nvSpPr>
            <p:cNvPr id="408" name="Google Shape;408;p24"/>
            <p:cNvSpPr/>
            <p:nvPr/>
          </p:nvSpPr>
          <p:spPr>
            <a:xfrm>
              <a:off x="6038850" y="142875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6038850" y="142875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24"/>
            <p:cNvSpPr txBox="1"/>
            <p:nvPr/>
          </p:nvSpPr>
          <p:spPr>
            <a:xfrm>
              <a:off x="6038850" y="142875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MULTICOLLINEARITY</a:t>
              </a:r>
              <a:endParaRPr sz="11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11" name="Google Shape;411;p24"/>
            <p:cNvSpPr txBox="1"/>
            <p:nvPr/>
          </p:nvSpPr>
          <p:spPr>
            <a:xfrm>
              <a:off x="6134100" y="190500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Total rooms, bedrooms, households, and population are highly correlated and were removed from the model.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12" name="Google Shape;412;p24"/>
          <p:cNvGrpSpPr/>
          <p:nvPr/>
        </p:nvGrpSpPr>
        <p:grpSpPr>
          <a:xfrm>
            <a:off x="571500" y="3048000"/>
            <a:ext cx="2524200" cy="1428900"/>
            <a:chOff x="571500" y="3048000"/>
            <a:chExt cx="2524200" cy="1428900"/>
          </a:xfrm>
        </p:grpSpPr>
        <p:sp>
          <p:nvSpPr>
            <p:cNvPr id="413" name="Google Shape;413;p24"/>
            <p:cNvSpPr/>
            <p:nvPr/>
          </p:nvSpPr>
          <p:spPr>
            <a:xfrm>
              <a:off x="571500" y="304800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571500" y="304800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8DD8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5" name="Google Shape;415;p24"/>
            <p:cNvSpPr txBox="1"/>
            <p:nvPr/>
          </p:nvSpPr>
          <p:spPr>
            <a:xfrm>
              <a:off x="571500" y="304800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DISTRIBUTION SKEW</a:t>
              </a:r>
              <a:endParaRPr sz="1100">
                <a:solidFill>
                  <a:srgbClr val="424242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16" name="Google Shape;416;p24"/>
            <p:cNvSpPr txBox="1"/>
            <p:nvPr/>
          </p:nvSpPr>
          <p:spPr>
            <a:xfrm>
              <a:off x="666750" y="352425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Right-skewed distribution was addressed via log transformation.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17" name="Google Shape;417;p24"/>
          <p:cNvGrpSpPr/>
          <p:nvPr/>
        </p:nvGrpSpPr>
        <p:grpSpPr>
          <a:xfrm>
            <a:off x="3305175" y="3048000"/>
            <a:ext cx="2524200" cy="1428900"/>
            <a:chOff x="3305175" y="3048000"/>
            <a:chExt cx="2524200" cy="1428900"/>
          </a:xfrm>
        </p:grpSpPr>
        <p:sp>
          <p:nvSpPr>
            <p:cNvPr id="418" name="Google Shape;418;p24"/>
            <p:cNvSpPr/>
            <p:nvPr/>
          </p:nvSpPr>
          <p:spPr>
            <a:xfrm>
              <a:off x="3305175" y="304800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3305175" y="304800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8DD8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20" name="Google Shape;420;p24"/>
            <p:cNvSpPr txBox="1"/>
            <p:nvPr/>
          </p:nvSpPr>
          <p:spPr>
            <a:xfrm>
              <a:off x="3305175" y="304800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OCEAN PROXIMITY</a:t>
              </a:r>
              <a:endParaRPr sz="1100">
                <a:solidFill>
                  <a:srgbClr val="424242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21" name="Google Shape;421;p24"/>
            <p:cNvSpPr txBox="1"/>
            <p:nvPr/>
          </p:nvSpPr>
          <p:spPr>
            <a:xfrm>
              <a:off x="3400425" y="352425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Coastal and near-bay districts have notably higher median home values than inland districts.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22" name="Google Shape;422;p24"/>
          <p:cNvGrpSpPr/>
          <p:nvPr/>
        </p:nvGrpSpPr>
        <p:grpSpPr>
          <a:xfrm>
            <a:off x="6038850" y="3048000"/>
            <a:ext cx="2524200" cy="1428900"/>
            <a:chOff x="6038850" y="3048000"/>
            <a:chExt cx="2524200" cy="1428900"/>
          </a:xfrm>
        </p:grpSpPr>
        <p:sp>
          <p:nvSpPr>
            <p:cNvPr id="423" name="Google Shape;423;p24"/>
            <p:cNvSpPr/>
            <p:nvPr/>
          </p:nvSpPr>
          <p:spPr>
            <a:xfrm>
              <a:off x="6038850" y="3048000"/>
              <a:ext cx="2524200" cy="1428900"/>
            </a:xfrm>
            <a:prstGeom prst="roundRect">
              <a:avLst>
                <a:gd name="adj" fmla="val 533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6038850" y="3048000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8DD8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25" name="Google Shape;425;p24"/>
            <p:cNvSpPr txBox="1"/>
            <p:nvPr/>
          </p:nvSpPr>
          <p:spPr>
            <a:xfrm>
              <a:off x="6038850" y="304800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PRICE CAPPING</a:t>
              </a:r>
              <a:endParaRPr sz="1100">
                <a:solidFill>
                  <a:srgbClr val="424242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  <p:sp>
          <p:nvSpPr>
            <p:cNvPr id="426" name="Google Shape;426;p24"/>
            <p:cNvSpPr txBox="1"/>
            <p:nvPr/>
          </p:nvSpPr>
          <p:spPr>
            <a:xfrm>
              <a:off x="6134100" y="3524250"/>
              <a:ext cx="2333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Target variable is capped at $500,000, limiting representation of high-value homes.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 txBox="1">
            <a:spLocks noGrp="1"/>
          </p:cNvSpPr>
          <p:nvPr>
            <p:ph type="title"/>
          </p:nvPr>
        </p:nvSpPr>
        <p:spPr>
          <a:xfrm>
            <a:off x="1291625" y="731100"/>
            <a:ext cx="7030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MEDIAN_HOUSE_VALUE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5673900" y="1595025"/>
            <a:ext cx="3019500" cy="27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Right skewed Distribution (0.978)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Cap at $500,001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Median tract value ($179,000)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Mean ($206,586)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Log1p transformation brings new skew to (-0.173) ~ near symmetric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Cap was applied to limity any models accur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33" name="Google Shape;433;p25"/>
          <p:cNvGrpSpPr/>
          <p:nvPr/>
        </p:nvGrpSpPr>
        <p:grpSpPr>
          <a:xfrm>
            <a:off x="625975" y="1373650"/>
            <a:ext cx="8136825" cy="3619500"/>
            <a:chOff x="625975" y="1047750"/>
            <a:chExt cx="8136825" cy="3619500"/>
          </a:xfrm>
        </p:grpSpPr>
        <p:sp>
          <p:nvSpPr>
            <p:cNvPr id="434" name="Google Shape;434;p25"/>
            <p:cNvSpPr/>
            <p:nvPr/>
          </p:nvSpPr>
          <p:spPr>
            <a:xfrm>
              <a:off x="625975" y="1047750"/>
              <a:ext cx="5623500" cy="3619500"/>
            </a:xfrm>
            <a:prstGeom prst="roundRect">
              <a:avLst>
                <a:gd name="adj" fmla="val 3157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5" name="Google Shape;435;p25"/>
            <p:cNvPicPr preferRelativeResize="0"/>
            <p:nvPr/>
          </p:nvPicPr>
          <p:blipFill rotWithShape="1">
            <a:blip r:embed="rId3">
              <a:alphaModFix/>
            </a:blip>
            <a:srcRect l="1597" r="-814"/>
            <a:stretch/>
          </p:blipFill>
          <p:spPr>
            <a:xfrm>
              <a:off x="704950" y="1142850"/>
              <a:ext cx="5544900" cy="3333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6" name="Google Shape;436;p25"/>
            <p:cNvGrpSpPr/>
            <p:nvPr/>
          </p:nvGrpSpPr>
          <p:grpSpPr>
            <a:xfrm>
              <a:off x="6249700" y="1047750"/>
              <a:ext cx="2513100" cy="3619500"/>
              <a:chOff x="6249700" y="1047750"/>
              <a:chExt cx="2513100" cy="3619500"/>
            </a:xfrm>
          </p:grpSpPr>
          <p:sp>
            <p:nvSpPr>
              <p:cNvPr id="437" name="Google Shape;437;p25"/>
              <p:cNvSpPr/>
              <p:nvPr/>
            </p:nvSpPr>
            <p:spPr>
              <a:xfrm>
                <a:off x="6249700" y="1047750"/>
                <a:ext cx="2513100" cy="3619500"/>
              </a:xfrm>
              <a:prstGeom prst="roundRect">
                <a:avLst>
                  <a:gd name="adj" fmla="val 3750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/>
              <p:cNvSpPr txBox="1"/>
              <p:nvPr/>
            </p:nvSpPr>
            <p:spPr>
              <a:xfrm>
                <a:off x="6312450" y="1238250"/>
                <a:ext cx="22599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1D7E75"/>
                    </a:solidFill>
                    <a:latin typeface="Maven Pro SemiBold"/>
                    <a:ea typeface="Maven Pro SemiBold"/>
                    <a:cs typeface="Maven Pro SemiBold"/>
                    <a:sym typeface="Maven Pro SemiBold"/>
                  </a:rPr>
                  <a:t>Key Statistics</a:t>
                </a:r>
                <a:endParaRPr sz="1300">
                  <a:solidFill>
                    <a:srgbClr val="1D7E75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• Right-skewed Distribution: </a:t>
                </a:r>
                <a:r>
                  <a:rPr lang="en" sz="1100" b="1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0.978</a:t>
                </a:r>
                <a:endParaRPr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• Median Tract Value: </a:t>
                </a:r>
                <a:r>
                  <a:rPr lang="en" sz="1100" b="1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$179,000</a:t>
                </a:r>
                <a:endParaRPr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• Mean Value: </a:t>
                </a:r>
                <a:r>
                  <a:rPr lang="en" sz="1100" b="1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$206,586</a:t>
                </a:r>
                <a:endParaRPr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rgbClr val="1D7E75"/>
                    </a:solidFill>
                    <a:latin typeface="Maven Pro SemiBold"/>
                    <a:ea typeface="Maven Pro SemiBold"/>
                    <a:cs typeface="Maven Pro SemiBold"/>
                    <a:sym typeface="Maven Pro SemiBold"/>
                  </a:rPr>
                  <a:t>Data Adjustments</a:t>
                </a:r>
                <a:endParaRPr sz="1300">
                  <a:solidFill>
                    <a:srgbClr val="1D7E75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Price Capping:</a:t>
                </a:r>
                <a:r>
                  <a:rPr lang="en" sz="1100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 Values capped at $500,001 to limit the influence of high-value outliers on model accuracy.</a:t>
                </a:r>
                <a:endParaRPr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Log1p Transformation:</a:t>
                </a:r>
                <a:r>
                  <a:rPr lang="en" sz="1100">
                    <a:solidFill>
                      <a:srgbClr val="424242"/>
                    </a:solidFill>
                    <a:latin typeface="Maven Pro"/>
                    <a:ea typeface="Maven Pro"/>
                    <a:cs typeface="Maven Pro"/>
                    <a:sym typeface="Maven Pro"/>
                  </a:rPr>
                  <a:t> Applied to address skewness, resulting in a near-symmetric distribution (-0.173).</a:t>
                </a:r>
                <a:endParaRPr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</a:t>
            </a:r>
            <a:endParaRPr/>
          </a:p>
        </p:txBody>
      </p:sp>
      <p:grpSp>
        <p:nvGrpSpPr>
          <p:cNvPr id="444" name="Google Shape;444;p26"/>
          <p:cNvGrpSpPr/>
          <p:nvPr/>
        </p:nvGrpSpPr>
        <p:grpSpPr>
          <a:xfrm>
            <a:off x="6296453" y="1421423"/>
            <a:ext cx="2799091" cy="2290782"/>
            <a:chOff x="6127300" y="1524000"/>
            <a:chExt cx="2513100" cy="3619500"/>
          </a:xfrm>
        </p:grpSpPr>
        <p:sp>
          <p:nvSpPr>
            <p:cNvPr id="445" name="Google Shape;445;p26"/>
            <p:cNvSpPr/>
            <p:nvPr/>
          </p:nvSpPr>
          <p:spPr>
            <a:xfrm>
              <a:off x="6127300" y="1524000"/>
              <a:ext cx="2513100" cy="3619500"/>
            </a:xfrm>
            <a:prstGeom prst="roundRect">
              <a:avLst>
                <a:gd name="adj" fmla="val 3750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 txBox="1"/>
            <p:nvPr/>
          </p:nvSpPr>
          <p:spPr>
            <a:xfrm>
              <a:off x="6190050" y="1714500"/>
              <a:ext cx="2259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7E75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Key Inferences</a:t>
              </a:r>
              <a:endParaRPr sz="1300">
                <a:solidFill>
                  <a:srgbClr val="1D7E75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• r = 0.69 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(median income ~ median house value)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• Total rooms, total bedrooms, population, households |r| &gt; 0.85 ~ multicollineraity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• 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Latitude shows negative correlation with price.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  <a:latin typeface="Maven Pro"/>
                  <a:ea typeface="Maven Pro"/>
                  <a:cs typeface="Maven Pro"/>
                  <a:sym typeface="Maven Pro"/>
                </a:rPr>
                <a:t>• 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Latitude/longtiude correlate at r = -0.92 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pic>
        <p:nvPicPr>
          <p:cNvPr id="447" name="Google Shape;4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350" y="1252488"/>
            <a:ext cx="4845550" cy="38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>
            <a:spLocks noGrp="1"/>
          </p:cNvSpPr>
          <p:nvPr>
            <p:ph type="title"/>
          </p:nvPr>
        </p:nvSpPr>
        <p:spPr>
          <a:xfrm>
            <a:off x="1303800" y="476825"/>
            <a:ext cx="7030500" cy="7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VISUILIZATIONS </a:t>
            </a:r>
            <a:endParaRPr/>
          </a:p>
        </p:txBody>
      </p:sp>
      <p:pic>
        <p:nvPicPr>
          <p:cNvPr id="453" name="Google Shape;453;p27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038" y="1115100"/>
            <a:ext cx="7404024" cy="30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7"/>
          <p:cNvSpPr txBox="1"/>
          <p:nvPr/>
        </p:nvSpPr>
        <p:spPr>
          <a:xfrm>
            <a:off x="757125" y="4580625"/>
            <a:ext cx="7729800" cy="3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Location and income dominate - they are also two features our models rely on the most. </a:t>
            </a:r>
            <a:endParaRPr sz="1300">
              <a:solidFill>
                <a:schemeClr val="dk2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757125" y="4146875"/>
            <a:ext cx="4484100" cy="34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Ocean proximity is a strong, non-linear regional signal </a:t>
            </a:r>
            <a:endParaRPr sz="1300">
              <a:solidFill>
                <a:schemeClr val="dk2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6" name="Google Shape;456;p27"/>
          <p:cNvSpPr txBox="1"/>
          <p:nvPr/>
        </p:nvSpPr>
        <p:spPr>
          <a:xfrm>
            <a:off x="5241225" y="4146875"/>
            <a:ext cx="3210300" cy="34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$500k ceiling flattens the top</a:t>
            </a:r>
            <a:endParaRPr sz="1300">
              <a:solidFill>
                <a:schemeClr val="dk2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28"/>
          <p:cNvGrpSpPr/>
          <p:nvPr/>
        </p:nvGrpSpPr>
        <p:grpSpPr>
          <a:xfrm>
            <a:off x="527427" y="224068"/>
            <a:ext cx="1097850" cy="1074620"/>
            <a:chOff x="238125" y="95325"/>
            <a:chExt cx="1226374" cy="1200425"/>
          </a:xfrm>
        </p:grpSpPr>
        <p:sp>
          <p:nvSpPr>
            <p:cNvPr id="462" name="Google Shape;462;p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 rot="-5400000">
              <a:off x="381000" y="238050"/>
              <a:ext cx="428700" cy="4287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 rot="-5400000">
              <a:off x="238125" y="95325"/>
              <a:ext cx="714300" cy="7143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0B6374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28"/>
          <p:cNvGrpSpPr/>
          <p:nvPr/>
        </p:nvGrpSpPr>
        <p:grpSpPr>
          <a:xfrm>
            <a:off x="476250" y="904875"/>
            <a:ext cx="8191500" cy="381000"/>
            <a:chOff x="476250" y="904875"/>
            <a:chExt cx="8191500" cy="381000"/>
          </a:xfrm>
        </p:grpSpPr>
        <p:sp>
          <p:nvSpPr>
            <p:cNvPr id="467" name="Google Shape;467;p28"/>
            <p:cNvSpPr/>
            <p:nvPr/>
          </p:nvSpPr>
          <p:spPr>
            <a:xfrm>
              <a:off x="476250" y="904875"/>
              <a:ext cx="8191500" cy="381000"/>
            </a:xfrm>
            <a:prstGeom prst="roundRect">
              <a:avLst>
                <a:gd name="adj" fmla="val 12500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8"/>
            <p:cNvSpPr txBox="1"/>
            <p:nvPr/>
          </p:nvSpPr>
          <p:spPr>
            <a:xfrm>
              <a:off x="476250" y="9048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Data Preparation &amp; Addressing Redundancies</a:t>
              </a:r>
              <a:endParaRPr sz="16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69" name="Google Shape;469;p28"/>
          <p:cNvGrpSpPr/>
          <p:nvPr/>
        </p:nvGrpSpPr>
        <p:grpSpPr>
          <a:xfrm>
            <a:off x="476250" y="1428750"/>
            <a:ext cx="2571900" cy="3143400"/>
            <a:chOff x="476250" y="1428750"/>
            <a:chExt cx="2571900" cy="3143400"/>
          </a:xfrm>
        </p:grpSpPr>
        <p:sp>
          <p:nvSpPr>
            <p:cNvPr id="470" name="Google Shape;470;p28"/>
            <p:cNvSpPr/>
            <p:nvPr/>
          </p:nvSpPr>
          <p:spPr>
            <a:xfrm>
              <a:off x="476250" y="1428750"/>
              <a:ext cx="2571900" cy="3143400"/>
            </a:xfrm>
            <a:prstGeom prst="roundRect">
              <a:avLst>
                <a:gd name="adj" fmla="val 4444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8"/>
            <p:cNvSpPr txBox="1"/>
            <p:nvPr/>
          </p:nvSpPr>
          <p:spPr>
            <a:xfrm>
              <a:off x="61912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B6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 sz="240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2" name="Google Shape;472;p28"/>
            <p:cNvSpPr txBox="1"/>
            <p:nvPr/>
          </p:nvSpPr>
          <p:spPr>
            <a:xfrm>
              <a:off x="619125" y="2000250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1. Refining the Dataset</a:t>
              </a:r>
              <a:endParaRPr sz="12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Removing Extremes: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Removed top 1% prices to prevent outliers from skewing the "normal" house baseline.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Simplifying Categories: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Converted location tags (Inland/Ocean) into Yes/No numerical switches for processing.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73" name="Google Shape;473;p28"/>
          <p:cNvGrpSpPr/>
          <p:nvPr/>
        </p:nvGrpSpPr>
        <p:grpSpPr>
          <a:xfrm>
            <a:off x="3286125" y="1428750"/>
            <a:ext cx="2571900" cy="3143400"/>
            <a:chOff x="3286125" y="1428750"/>
            <a:chExt cx="2571900" cy="3143400"/>
          </a:xfrm>
        </p:grpSpPr>
        <p:sp>
          <p:nvSpPr>
            <p:cNvPr id="474" name="Google Shape;474;p28"/>
            <p:cNvSpPr/>
            <p:nvPr/>
          </p:nvSpPr>
          <p:spPr>
            <a:xfrm>
              <a:off x="3286125" y="1428750"/>
              <a:ext cx="2571900" cy="3143400"/>
            </a:xfrm>
            <a:prstGeom prst="roundRect">
              <a:avLst>
                <a:gd name="adj" fmla="val 4444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8"/>
            <p:cNvSpPr txBox="1"/>
            <p:nvPr/>
          </p:nvSpPr>
          <p:spPr>
            <a:xfrm>
              <a:off x="3429000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B6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6" name="Google Shape;476;p28"/>
            <p:cNvSpPr txBox="1"/>
            <p:nvPr/>
          </p:nvSpPr>
          <p:spPr>
            <a:xfrm>
              <a:off x="3429000" y="2000250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2. Solving Overlap</a:t>
              </a:r>
              <a:endParaRPr sz="12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Issue: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Multicollinearity between "total rooms" and "population" confused the model.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Fix: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Combined overlapping stats into "bedrooms per household" and dropped redundant columns.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77" name="Google Shape;477;p28"/>
          <p:cNvGrpSpPr/>
          <p:nvPr/>
        </p:nvGrpSpPr>
        <p:grpSpPr>
          <a:xfrm>
            <a:off x="6096000" y="1428750"/>
            <a:ext cx="2571900" cy="3143400"/>
            <a:chOff x="6096000" y="1428750"/>
            <a:chExt cx="2571900" cy="3143400"/>
          </a:xfrm>
        </p:grpSpPr>
        <p:sp>
          <p:nvSpPr>
            <p:cNvPr id="478" name="Google Shape;478;p28"/>
            <p:cNvSpPr/>
            <p:nvPr/>
          </p:nvSpPr>
          <p:spPr>
            <a:xfrm>
              <a:off x="6096000" y="1428750"/>
              <a:ext cx="2571900" cy="3143400"/>
            </a:xfrm>
            <a:prstGeom prst="roundRect">
              <a:avLst>
                <a:gd name="adj" fmla="val 4444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8"/>
            <p:cNvSpPr txBox="1"/>
            <p:nvPr/>
          </p:nvSpPr>
          <p:spPr>
            <a:xfrm>
              <a:off x="623887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B637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0" name="Google Shape;480;p28"/>
            <p:cNvSpPr txBox="1"/>
            <p:nvPr/>
          </p:nvSpPr>
          <p:spPr>
            <a:xfrm>
              <a:off x="6238875" y="2000250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3. Final Math Checks</a:t>
              </a:r>
              <a:endParaRPr sz="12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Unique Value (VIF):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Guaranteed every feature brought unique info; dropped map coordinates.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Leveling the Field: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Scaled data so population size (5,000) didn't outweigh income levels (4).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81" name="Google Shape;481;p28"/>
          <p:cNvGrpSpPr/>
          <p:nvPr/>
        </p:nvGrpSpPr>
        <p:grpSpPr>
          <a:xfrm>
            <a:off x="476250" y="4714875"/>
            <a:ext cx="8191500" cy="333300"/>
            <a:chOff x="476250" y="4714875"/>
            <a:chExt cx="8191500" cy="333300"/>
          </a:xfrm>
        </p:grpSpPr>
        <p:sp>
          <p:nvSpPr>
            <p:cNvPr id="482" name="Google Shape;482;p28"/>
            <p:cNvSpPr/>
            <p:nvPr/>
          </p:nvSpPr>
          <p:spPr>
            <a:xfrm>
              <a:off x="476250" y="4714875"/>
              <a:ext cx="8191500" cy="333300"/>
            </a:xfrm>
            <a:prstGeom prst="roundRect">
              <a:avLst>
                <a:gd name="adj" fmla="val 14285"/>
              </a:avLst>
            </a:prstGeom>
            <a:solidFill>
              <a:srgbClr val="8DD8D3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8"/>
            <p:cNvSpPr txBox="1"/>
            <p:nvPr/>
          </p:nvSpPr>
          <p:spPr>
            <a:xfrm>
              <a:off x="476250" y="4714875"/>
              <a:ext cx="8191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These steps ensure a robust dataset, allowing the Neural Network to focus on meaningful patterns.</a:t>
              </a:r>
              <a:endParaRPr sz="1000" b="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9"/>
          <p:cNvGrpSpPr/>
          <p:nvPr/>
        </p:nvGrpSpPr>
        <p:grpSpPr>
          <a:xfrm>
            <a:off x="476250" y="248325"/>
            <a:ext cx="8191500" cy="513825"/>
            <a:chOff x="476250" y="248325"/>
            <a:chExt cx="8191500" cy="513825"/>
          </a:xfrm>
        </p:grpSpPr>
        <p:sp>
          <p:nvSpPr>
            <p:cNvPr id="489" name="Google Shape;489;p29"/>
            <p:cNvSpPr/>
            <p:nvPr/>
          </p:nvSpPr>
          <p:spPr>
            <a:xfrm>
              <a:off x="476250" y="285750"/>
              <a:ext cx="8191500" cy="476400"/>
            </a:xfrm>
            <a:prstGeom prst="roundRect">
              <a:avLst>
                <a:gd name="adj" fmla="val 10000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 txBox="1"/>
            <p:nvPr/>
          </p:nvSpPr>
          <p:spPr>
            <a:xfrm>
              <a:off x="476250" y="248325"/>
              <a:ext cx="819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Model Selection, Evaluation, &amp; Next Steps</a:t>
              </a:r>
              <a:endParaRPr sz="24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91" name="Google Shape;491;p29"/>
          <p:cNvGrpSpPr/>
          <p:nvPr/>
        </p:nvGrpSpPr>
        <p:grpSpPr>
          <a:xfrm>
            <a:off x="476250" y="857235"/>
            <a:ext cx="8420652" cy="1153516"/>
            <a:chOff x="476250" y="952500"/>
            <a:chExt cx="4000500" cy="3429000"/>
          </a:xfrm>
        </p:grpSpPr>
        <p:sp>
          <p:nvSpPr>
            <p:cNvPr id="492" name="Google Shape;492;p29"/>
            <p:cNvSpPr/>
            <p:nvPr/>
          </p:nvSpPr>
          <p:spPr>
            <a:xfrm>
              <a:off x="476250" y="952500"/>
              <a:ext cx="4000500" cy="3429000"/>
            </a:xfrm>
            <a:prstGeom prst="roundRect">
              <a:avLst>
                <a:gd name="adj" fmla="val 4166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 txBox="1"/>
            <p:nvPr/>
          </p:nvSpPr>
          <p:spPr>
            <a:xfrm>
              <a:off x="666750" y="11430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Choosing Our Prediction Tools</a:t>
              </a:r>
              <a:endParaRPr sz="16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94" name="Google Shape;494;p29"/>
            <p:cNvSpPr txBox="1"/>
            <p:nvPr/>
          </p:nvSpPr>
          <p:spPr>
            <a:xfrm>
              <a:off x="666750" y="1809537"/>
              <a:ext cx="3619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Standard Regression: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The Transparent Approach. Provides a clear receipt of how features drive price.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Neural Network: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The Advanced Approach. Uncovers hidden, complex market patterns AI-style.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 i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Trade-off:</a:t>
              </a:r>
              <a:r>
                <a:rPr lang="en" sz="1100" i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Regression can oversimplify, while Neural Networks act as a "black box" harder to explain.</a:t>
              </a:r>
              <a:endParaRPr sz="1100" i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pic>
        <p:nvPicPr>
          <p:cNvPr id="495" name="Google Shape;495;p29" title="1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00" y="2105825"/>
            <a:ext cx="3844300" cy="26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9" title="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825" y="2136400"/>
            <a:ext cx="3800250" cy="26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3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02" name="Google Shape;502;p3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3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grpSp>
        <p:nvGrpSpPr>
          <p:cNvPr id="505" name="Google Shape;505;p30"/>
          <p:cNvGrpSpPr/>
          <p:nvPr/>
        </p:nvGrpSpPr>
        <p:grpSpPr>
          <a:xfrm>
            <a:off x="762000" y="1143000"/>
            <a:ext cx="7734300" cy="571500"/>
            <a:chOff x="762000" y="1143000"/>
            <a:chExt cx="7734300" cy="571500"/>
          </a:xfrm>
        </p:grpSpPr>
        <p:sp>
          <p:nvSpPr>
            <p:cNvPr id="506" name="Google Shape;506;p30"/>
            <p:cNvSpPr/>
            <p:nvPr/>
          </p:nvSpPr>
          <p:spPr>
            <a:xfrm>
              <a:off x="762000" y="1143000"/>
              <a:ext cx="7734300" cy="571500"/>
            </a:xfrm>
            <a:prstGeom prst="roundRect">
              <a:avLst>
                <a:gd name="adj" fmla="val 16666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 txBox="1"/>
            <p:nvPr/>
          </p:nvSpPr>
          <p:spPr>
            <a:xfrm>
              <a:off x="762000" y="1143000"/>
              <a:ext cx="7734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Selected Model: Neural Network (R² = 0.68, MAE = $43,452)</a:t>
              </a:r>
              <a:endParaRPr sz="18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08" name="Google Shape;508;p30"/>
          <p:cNvGrpSpPr/>
          <p:nvPr/>
        </p:nvGrpSpPr>
        <p:grpSpPr>
          <a:xfrm>
            <a:off x="762000" y="1905000"/>
            <a:ext cx="3714900" cy="2286000"/>
            <a:chOff x="762000" y="1905000"/>
            <a:chExt cx="3714900" cy="2286000"/>
          </a:xfrm>
        </p:grpSpPr>
        <p:sp>
          <p:nvSpPr>
            <p:cNvPr id="509" name="Google Shape;509;p30"/>
            <p:cNvSpPr/>
            <p:nvPr/>
          </p:nvSpPr>
          <p:spPr>
            <a:xfrm>
              <a:off x="762000" y="1905000"/>
              <a:ext cx="3714900" cy="22860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 txBox="1"/>
            <p:nvPr/>
          </p:nvSpPr>
          <p:spPr>
            <a:xfrm>
              <a:off x="952500" y="2047875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Neural Network vs OLS</a:t>
              </a:r>
              <a:endParaRPr sz="15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11" name="Google Shape;511;p30"/>
            <p:cNvSpPr txBox="1"/>
            <p:nvPr/>
          </p:nvSpPr>
          <p:spPr>
            <a:xfrm>
              <a:off x="952500" y="2571750"/>
              <a:ext cx="3333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424242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Performance Improvement:</a:t>
              </a:r>
              <a:endParaRPr sz="1200" b="0">
                <a:solidFill>
                  <a:srgbClr val="424242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  <a:p>
              <a:pPr marL="457200" lvl="0" indent="-298450" algn="l" rtl="0">
                <a:spcBef>
                  <a:spcPts val="1125"/>
                </a:spcBef>
                <a:spcAft>
                  <a:spcPts val="0"/>
                </a:spcAft>
                <a:buClr>
                  <a:srgbClr val="424242"/>
                </a:buClr>
                <a:buSzPts val="1100"/>
                <a:buFont typeface="Maven Pro"/>
                <a:buChar char="●"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Neural Network R²: </a:t>
              </a: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0.68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424242"/>
                </a:buClr>
                <a:buSzPts val="1100"/>
                <a:buFont typeface="Maven Pro"/>
                <a:buChar char="●"/>
              </a:pP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OLS R²: </a:t>
              </a: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0.617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00" i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Neural Network offers a superior fit for the housing data compared to traditional linear regression.</a:t>
              </a:r>
              <a:endParaRPr sz="1000" i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12" name="Google Shape;512;p30"/>
          <p:cNvGrpSpPr/>
          <p:nvPr/>
        </p:nvGrpSpPr>
        <p:grpSpPr>
          <a:xfrm>
            <a:off x="4762500" y="1905000"/>
            <a:ext cx="3714900" cy="2286000"/>
            <a:chOff x="4762500" y="1905000"/>
            <a:chExt cx="3714900" cy="2286000"/>
          </a:xfrm>
        </p:grpSpPr>
        <p:sp>
          <p:nvSpPr>
            <p:cNvPr id="513" name="Google Shape;513;p30"/>
            <p:cNvSpPr/>
            <p:nvPr/>
          </p:nvSpPr>
          <p:spPr>
            <a:xfrm>
              <a:off x="4762500" y="1905000"/>
              <a:ext cx="3714900" cy="22860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 txBox="1"/>
            <p:nvPr/>
          </p:nvSpPr>
          <p:spPr>
            <a:xfrm>
              <a:off x="4953000" y="2047875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What the Model Tells Us</a:t>
              </a:r>
              <a:endParaRPr sz="15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15" name="Google Shape;515;p30"/>
            <p:cNvSpPr txBox="1"/>
            <p:nvPr/>
          </p:nvSpPr>
          <p:spPr>
            <a:xfrm>
              <a:off x="4953000" y="2571750"/>
              <a:ext cx="3333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Typical Deviation (MAE)</a:t>
              </a:r>
              <a:endParaRPr sz="11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Average price prediction error: </a:t>
              </a: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$43,452.09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Impact of Outliers (RMSE)</a:t>
              </a:r>
              <a:endParaRPr sz="11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Higher at </a:t>
              </a:r>
              <a:r>
                <a:rPr lang="en" sz="10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$63,016.24</a:t>
              </a:r>
              <a:r>
                <a:rPr lang="en" sz="10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, indicating extreme pricing outliers.</a:t>
              </a:r>
              <a:endParaRPr sz="10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24242"/>
                  </a:solidFill>
                  <a:latin typeface="Maven Pro SemiBold"/>
                  <a:ea typeface="Maven Pro SemiBold"/>
                  <a:cs typeface="Maven Pro SemiBold"/>
                  <a:sym typeface="Maven Pro SemiBold"/>
                </a:rPr>
                <a:t>Explains ~70% of variance in CA housing prices.</a:t>
              </a:r>
              <a:endParaRPr sz="1000" b="0">
                <a:solidFill>
                  <a:srgbClr val="424242"/>
                </a:solidFill>
                <a:latin typeface="Maven Pro SemiBold"/>
                <a:ea typeface="Maven Pro SemiBold"/>
                <a:cs typeface="Maven Pro SemiBold"/>
                <a:sym typeface="Maven Pro SemiBold"/>
              </a:endParaRPr>
            </a:p>
          </p:txBody>
        </p:sp>
      </p:grpSp>
      <p:grpSp>
        <p:nvGrpSpPr>
          <p:cNvPr id="516" name="Google Shape;516;p30"/>
          <p:cNvGrpSpPr/>
          <p:nvPr/>
        </p:nvGrpSpPr>
        <p:grpSpPr>
          <a:xfrm>
            <a:off x="762000" y="4381500"/>
            <a:ext cx="7734300" cy="381000"/>
            <a:chOff x="762000" y="4381500"/>
            <a:chExt cx="7734300" cy="381000"/>
          </a:xfrm>
        </p:grpSpPr>
        <p:sp>
          <p:nvSpPr>
            <p:cNvPr id="517" name="Google Shape;517;p30"/>
            <p:cNvSpPr/>
            <p:nvPr/>
          </p:nvSpPr>
          <p:spPr>
            <a:xfrm>
              <a:off x="762000" y="4381500"/>
              <a:ext cx="7734300" cy="381000"/>
            </a:xfrm>
            <a:prstGeom prst="roundRect">
              <a:avLst>
                <a:gd name="adj" fmla="val 12500"/>
              </a:avLst>
            </a:prstGeom>
            <a:solidFill>
              <a:srgbClr val="8DD8D3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0"/>
            <p:cNvSpPr txBox="1"/>
            <p:nvPr/>
          </p:nvSpPr>
          <p:spPr>
            <a:xfrm>
              <a:off x="762000" y="4381500"/>
              <a:ext cx="773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Neural network features successfully capture the complex dynamics of the California housing market.</a:t>
              </a:r>
              <a:endParaRPr sz="1100" b="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1"/>
          <p:cNvGrpSpPr/>
          <p:nvPr/>
        </p:nvGrpSpPr>
        <p:grpSpPr>
          <a:xfrm>
            <a:off x="476250" y="285750"/>
            <a:ext cx="8191500" cy="571500"/>
            <a:chOff x="476250" y="285750"/>
            <a:chExt cx="8191500" cy="571500"/>
          </a:xfrm>
        </p:grpSpPr>
        <p:sp>
          <p:nvSpPr>
            <p:cNvPr id="524" name="Google Shape;524;p31"/>
            <p:cNvSpPr/>
            <p:nvPr/>
          </p:nvSpPr>
          <p:spPr>
            <a:xfrm>
              <a:off x="476250" y="285750"/>
              <a:ext cx="8191500" cy="571500"/>
            </a:xfrm>
            <a:prstGeom prst="roundRect">
              <a:avLst>
                <a:gd name="adj" fmla="val 16666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 txBox="1"/>
            <p:nvPr/>
          </p:nvSpPr>
          <p:spPr>
            <a:xfrm>
              <a:off x="476250" y="28575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OLS Considerations: Key Market Drivers</a:t>
              </a:r>
              <a:endParaRPr sz="24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26" name="Google Shape;526;p31"/>
          <p:cNvGrpSpPr/>
          <p:nvPr/>
        </p:nvGrpSpPr>
        <p:grpSpPr>
          <a:xfrm>
            <a:off x="476250" y="285750"/>
            <a:ext cx="8191500" cy="571500"/>
            <a:chOff x="476250" y="285750"/>
            <a:chExt cx="8191500" cy="571500"/>
          </a:xfrm>
        </p:grpSpPr>
        <p:sp>
          <p:nvSpPr>
            <p:cNvPr id="527" name="Google Shape;527;p31"/>
            <p:cNvSpPr/>
            <p:nvPr/>
          </p:nvSpPr>
          <p:spPr>
            <a:xfrm>
              <a:off x="476250" y="285750"/>
              <a:ext cx="8191500" cy="571500"/>
            </a:xfrm>
            <a:prstGeom prst="roundRect">
              <a:avLst>
                <a:gd name="adj" fmla="val 16666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 txBox="1"/>
            <p:nvPr/>
          </p:nvSpPr>
          <p:spPr>
            <a:xfrm>
              <a:off x="476250" y="28575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OLS Considerations: Key Market Drivers</a:t>
              </a:r>
              <a:endParaRPr sz="24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29" name="Google Shape;529;p31"/>
          <p:cNvGrpSpPr/>
          <p:nvPr/>
        </p:nvGrpSpPr>
        <p:grpSpPr>
          <a:xfrm>
            <a:off x="571500" y="1089375"/>
            <a:ext cx="4000500" cy="2203275"/>
            <a:chOff x="476250" y="1905000"/>
            <a:chExt cx="4000500" cy="2203275"/>
          </a:xfrm>
        </p:grpSpPr>
        <p:sp>
          <p:nvSpPr>
            <p:cNvPr id="530" name="Google Shape;530;p31"/>
            <p:cNvSpPr/>
            <p:nvPr/>
          </p:nvSpPr>
          <p:spPr>
            <a:xfrm>
              <a:off x="476250" y="1905000"/>
              <a:ext cx="4000500" cy="16794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476250" y="1905000"/>
              <a:ext cx="4000500" cy="428700"/>
            </a:xfrm>
            <a:prstGeom prst="roundRect">
              <a:avLst>
                <a:gd name="adj" fmla="val 26666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1"/>
            <p:cNvSpPr txBox="1"/>
            <p:nvPr/>
          </p:nvSpPr>
          <p:spPr>
            <a:xfrm>
              <a:off x="952500" y="190500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Positive Drivers</a:t>
              </a:r>
              <a:endParaRPr sz="1400" b="1" dirty="0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34" name="Google Shape;534;p31"/>
            <p:cNvSpPr txBox="1"/>
            <p:nvPr/>
          </p:nvSpPr>
          <p:spPr>
            <a:xfrm>
              <a:off x="666750" y="2428875"/>
              <a:ext cx="3619500" cy="16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Neighborhood Income:</a:t>
              </a:r>
              <a:b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</a:br>
              <a:r>
                <a:rPr lang="en" sz="1100" b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Strongest everyday driver. Every 1-unit increase jumps home value by </a:t>
              </a: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~17%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The "Island" Premium:</a:t>
              </a:r>
              <a:b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</a:br>
              <a:r>
                <a:rPr lang="en" sz="1100" b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Being on an island drives up baseline value by over </a:t>
              </a:r>
              <a:r>
                <a:rPr lang="en" sz="11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70%</a:t>
              </a:r>
              <a:r>
                <a:rPr lang="en" sz="1100" b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vs. standard coastal properties.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35" name="Google Shape;535;p31"/>
          <p:cNvGrpSpPr/>
          <p:nvPr/>
        </p:nvGrpSpPr>
        <p:grpSpPr>
          <a:xfrm>
            <a:off x="571500" y="3125119"/>
            <a:ext cx="4000500" cy="1431972"/>
            <a:chOff x="4667250" y="1905000"/>
            <a:chExt cx="4000500" cy="2190900"/>
          </a:xfrm>
        </p:grpSpPr>
        <p:sp>
          <p:nvSpPr>
            <p:cNvPr id="536" name="Google Shape;536;p31"/>
            <p:cNvSpPr/>
            <p:nvPr/>
          </p:nvSpPr>
          <p:spPr>
            <a:xfrm>
              <a:off x="4667250" y="1905000"/>
              <a:ext cx="4000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4667250" y="1905000"/>
              <a:ext cx="4000500" cy="428700"/>
            </a:xfrm>
            <a:prstGeom prst="roundRect">
              <a:avLst>
                <a:gd name="adj" fmla="val 26666"/>
              </a:avLst>
            </a:prstGeom>
            <a:solidFill>
              <a:srgbClr val="D32F2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 txBox="1"/>
            <p:nvPr/>
          </p:nvSpPr>
          <p:spPr>
            <a:xfrm>
              <a:off x="5143500" y="190500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D32F2F"/>
                  </a:solidFill>
                  <a:latin typeface="Maven Pro"/>
                  <a:ea typeface="Maven Pro"/>
                  <a:cs typeface="Maven Pro"/>
                  <a:sym typeface="Maven Pro"/>
                </a:rPr>
                <a:t>Negative Drivers </a:t>
              </a:r>
              <a:endParaRPr sz="1400" b="1" dirty="0">
                <a:solidFill>
                  <a:srgbClr val="D32F2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40" name="Google Shape;540;p31"/>
            <p:cNvSpPr txBox="1"/>
            <p:nvPr/>
          </p:nvSpPr>
          <p:spPr>
            <a:xfrm>
              <a:off x="4857750" y="2428875"/>
              <a:ext cx="36195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Moving Inland: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Moving to an "Inland" region slashes expected value by roughly </a:t>
              </a:r>
              <a:r>
                <a:rPr lang="en" sz="1100" b="1">
                  <a:solidFill>
                    <a:srgbClr val="D32F2F"/>
                  </a:solidFill>
                  <a:latin typeface="Maven Pro"/>
                  <a:ea typeface="Maven Pro"/>
                  <a:cs typeface="Maven Pro"/>
                  <a:sym typeface="Maven Pro"/>
                </a:rPr>
                <a:t>50%</a:t>
              </a:r>
              <a:r>
                <a:rPr lang="en" sz="1100" b="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compared to properties near the ocean.</a:t>
              </a:r>
              <a:endParaRPr sz="1100" b="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pic>
        <p:nvPicPr>
          <p:cNvPr id="541" name="Google Shape;541;p31"/>
          <p:cNvPicPr preferRelativeResize="0"/>
          <p:nvPr/>
        </p:nvPicPr>
        <p:blipFill rotWithShape="1">
          <a:blip r:embed="rId4">
            <a:alphaModFix/>
          </a:blip>
          <a:srcRect r="57966"/>
          <a:stretch/>
        </p:blipFill>
        <p:spPr>
          <a:xfrm>
            <a:off x="4696526" y="1440625"/>
            <a:ext cx="4263275" cy="22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"/>
          <p:cNvSpPr txBox="1">
            <a:spLocks noGrp="1"/>
          </p:cNvSpPr>
          <p:nvPr>
            <p:ph type="body" idx="1"/>
          </p:nvPr>
        </p:nvSpPr>
        <p:spPr>
          <a:xfrm>
            <a:off x="1212775" y="774575"/>
            <a:ext cx="8153400" cy="11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Maven Pro"/>
                <a:ea typeface="Maven Pro"/>
                <a:cs typeface="Maven Pro"/>
                <a:sym typeface="Maven Pro"/>
              </a:rPr>
              <a:t>Model Diagnostics &amp; Assumptions Validation</a:t>
            </a:r>
            <a:endParaRPr sz="2800" b="1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 b="1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2"/>
          <p:cNvSpPr txBox="1">
            <a:spLocks noGrp="1"/>
          </p:cNvSpPr>
          <p:nvPr>
            <p:ph type="body" idx="1"/>
          </p:nvPr>
        </p:nvSpPr>
        <p:spPr>
          <a:xfrm>
            <a:off x="514050" y="1743350"/>
            <a:ext cx="54744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Maven Pro"/>
                <a:ea typeface="Maven Pro"/>
                <a:cs typeface="Maven Pro"/>
                <a:sym typeface="Maven Pro"/>
              </a:rPr>
              <a:t>Linearity</a:t>
            </a: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: The model assumes a straight-line relationship.This mostly holds based on the residual plots.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latin typeface="Maven Pro"/>
                <a:ea typeface="Maven Pro"/>
                <a:cs typeface="Maven Pro"/>
                <a:sym typeface="Maven Pro"/>
              </a:rPr>
              <a:t>Multicollinearity</a:t>
            </a: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: Some variables were too similar to each other. We removed them to make the model more stable.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latin typeface="Maven Pro"/>
                <a:ea typeface="Maven Pro"/>
                <a:cs typeface="Maven Pro"/>
                <a:sym typeface="Maven Pro"/>
              </a:rPr>
              <a:t>Homoscedasticity</a:t>
            </a: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: Errors should be evenly spread. In our case, errors are larger for very cheap and very expensive homes.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1">
                <a:latin typeface="Maven Pro"/>
                <a:ea typeface="Maven Pro"/>
                <a:cs typeface="Maven Pro"/>
                <a:sym typeface="Maven Pro"/>
              </a:rPr>
              <a:t>Normality of Residuals: </a:t>
            </a:r>
            <a:r>
              <a:rPr lang="en" sz="1200">
                <a:latin typeface="Maven Pro"/>
                <a:ea typeface="Maven Pro"/>
                <a:cs typeface="Maven Pro"/>
                <a:sym typeface="Maven Pro"/>
              </a:rPr>
              <a:t>Errors are roughly normally distributed, which is acceptable.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48" name="Google Shape;548;p32"/>
          <p:cNvPicPr preferRelativeResize="0"/>
          <p:nvPr/>
        </p:nvPicPr>
        <p:blipFill rotWithShape="1">
          <a:blip r:embed="rId3">
            <a:alphaModFix/>
          </a:blip>
          <a:srcRect l="902" r="49549"/>
          <a:stretch/>
        </p:blipFill>
        <p:spPr>
          <a:xfrm>
            <a:off x="6253144" y="1396975"/>
            <a:ext cx="2539151" cy="17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2"/>
          <p:cNvPicPr preferRelativeResize="0"/>
          <p:nvPr/>
        </p:nvPicPr>
        <p:blipFill rotWithShape="1">
          <a:blip r:embed="rId3">
            <a:alphaModFix/>
          </a:blip>
          <a:srcRect l="902" r="49549"/>
          <a:stretch/>
        </p:blipFill>
        <p:spPr>
          <a:xfrm>
            <a:off x="6289769" y="3186075"/>
            <a:ext cx="2539151" cy="17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33"/>
          <p:cNvGrpSpPr/>
          <p:nvPr/>
        </p:nvGrpSpPr>
        <p:grpSpPr>
          <a:xfrm>
            <a:off x="476250" y="285750"/>
            <a:ext cx="8191500" cy="571500"/>
            <a:chOff x="476250" y="285750"/>
            <a:chExt cx="8191500" cy="571500"/>
          </a:xfrm>
        </p:grpSpPr>
        <p:sp>
          <p:nvSpPr>
            <p:cNvPr id="555" name="Google Shape;555;p33"/>
            <p:cNvSpPr/>
            <p:nvPr/>
          </p:nvSpPr>
          <p:spPr>
            <a:xfrm>
              <a:off x="476250" y="285750"/>
              <a:ext cx="8191500" cy="571500"/>
            </a:xfrm>
            <a:prstGeom prst="roundRect">
              <a:avLst>
                <a:gd name="adj" fmla="val 16666"/>
              </a:avLst>
            </a:prstGeom>
            <a:solidFill>
              <a:srgbClr val="0B637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3"/>
            <p:cNvSpPr txBox="1"/>
            <p:nvPr/>
          </p:nvSpPr>
          <p:spPr>
            <a:xfrm>
              <a:off x="476250" y="28575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Limitations &amp; Challenges</a:t>
              </a:r>
              <a:endParaRPr sz="2400" b="1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57" name="Google Shape;557;p33"/>
          <p:cNvGrpSpPr/>
          <p:nvPr/>
        </p:nvGrpSpPr>
        <p:grpSpPr>
          <a:xfrm>
            <a:off x="476250" y="1047750"/>
            <a:ext cx="4000500" cy="1428900"/>
            <a:chOff x="476250" y="1047750"/>
            <a:chExt cx="4000500" cy="1428900"/>
          </a:xfrm>
        </p:grpSpPr>
        <p:sp>
          <p:nvSpPr>
            <p:cNvPr id="558" name="Google Shape;558;p33"/>
            <p:cNvSpPr/>
            <p:nvPr/>
          </p:nvSpPr>
          <p:spPr>
            <a:xfrm>
              <a:off x="476250" y="1047750"/>
              <a:ext cx="40005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476250" y="1047750"/>
              <a:ext cx="4000500" cy="381000"/>
            </a:xfrm>
            <a:prstGeom prst="roundRect">
              <a:avLst>
                <a:gd name="adj" fmla="val 25000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 txBox="1"/>
            <p:nvPr/>
          </p:nvSpPr>
          <p:spPr>
            <a:xfrm>
              <a:off x="619125" y="107696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61" name="Google Shape;561;p33"/>
            <p:cNvSpPr txBox="1"/>
            <p:nvPr/>
          </p:nvSpPr>
          <p:spPr>
            <a:xfrm>
              <a:off x="952500" y="104775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Data &amp; Temporal Constraints</a:t>
              </a:r>
              <a:endParaRPr sz="14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62" name="Google Shape;562;p33"/>
            <p:cNvSpPr txBox="1"/>
            <p:nvPr/>
          </p:nvSpPr>
          <p:spPr>
            <a:xfrm>
              <a:off x="666750" y="152400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1990 Census data: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Market dynamics have shifted significantly since collection.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No temporal data: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Model cannot account for market cycles or regional trends.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63" name="Google Shape;563;p33"/>
          <p:cNvGrpSpPr/>
          <p:nvPr/>
        </p:nvGrpSpPr>
        <p:grpSpPr>
          <a:xfrm>
            <a:off x="4667250" y="1047750"/>
            <a:ext cx="4000500" cy="1428900"/>
            <a:chOff x="4667250" y="1047750"/>
            <a:chExt cx="4000500" cy="1428900"/>
          </a:xfrm>
        </p:grpSpPr>
        <p:sp>
          <p:nvSpPr>
            <p:cNvPr id="564" name="Google Shape;564;p33"/>
            <p:cNvSpPr/>
            <p:nvPr/>
          </p:nvSpPr>
          <p:spPr>
            <a:xfrm>
              <a:off x="4667250" y="1047750"/>
              <a:ext cx="40005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4667250" y="1047750"/>
              <a:ext cx="4000500" cy="381000"/>
            </a:xfrm>
            <a:prstGeom prst="roundRect">
              <a:avLst>
                <a:gd name="adj" fmla="val 25000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 txBox="1"/>
            <p:nvPr/>
          </p:nvSpPr>
          <p:spPr>
            <a:xfrm>
              <a:off x="4810125" y="107696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67" name="Google Shape;567;p33"/>
            <p:cNvSpPr txBox="1"/>
            <p:nvPr/>
          </p:nvSpPr>
          <p:spPr>
            <a:xfrm>
              <a:off x="5143500" y="104775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Statistical Performance</a:t>
              </a:r>
              <a:endParaRPr sz="14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68" name="Google Shape;568;p33"/>
            <p:cNvSpPr txBox="1"/>
            <p:nvPr/>
          </p:nvSpPr>
          <p:spPr>
            <a:xfrm>
              <a:off x="4857750" y="152400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$500K price cap: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Underperforms significantly on luxury properties.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Heteroscedasticity: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Errors are unevenly distributed across price ranges.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69" name="Google Shape;569;p33"/>
          <p:cNvGrpSpPr/>
          <p:nvPr/>
        </p:nvGrpSpPr>
        <p:grpSpPr>
          <a:xfrm>
            <a:off x="476250" y="2667000"/>
            <a:ext cx="4000500" cy="1714500"/>
            <a:chOff x="476250" y="2667000"/>
            <a:chExt cx="4000500" cy="1714500"/>
          </a:xfrm>
        </p:grpSpPr>
        <p:sp>
          <p:nvSpPr>
            <p:cNvPr id="570" name="Google Shape;570;p33"/>
            <p:cNvSpPr/>
            <p:nvPr/>
          </p:nvSpPr>
          <p:spPr>
            <a:xfrm>
              <a:off x="476250" y="2667000"/>
              <a:ext cx="40005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476250" y="2667000"/>
              <a:ext cx="4000500" cy="381000"/>
            </a:xfrm>
            <a:prstGeom prst="roundRect">
              <a:avLst>
                <a:gd name="adj" fmla="val 25000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 txBox="1"/>
            <p:nvPr/>
          </p:nvSpPr>
          <p:spPr>
            <a:xfrm>
              <a:off x="619125" y="269621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73" name="Google Shape;573;p33"/>
            <p:cNvSpPr txBox="1"/>
            <p:nvPr/>
          </p:nvSpPr>
          <p:spPr>
            <a:xfrm>
              <a:off x="952500" y="266700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The Unexplained 30%</a:t>
              </a:r>
              <a:endParaRPr sz="14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74" name="Google Shape;574;p33"/>
            <p:cNvSpPr txBox="1"/>
            <p:nvPr/>
          </p:nvSpPr>
          <p:spPr>
            <a:xfrm>
              <a:off x="666750" y="3143250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Missing Variables: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Our best model explains ~70% of housing price variance.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 i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Significant price factors remain uncaptured by the current feature set.</a:t>
              </a:r>
              <a:endParaRPr sz="1100" i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75" name="Google Shape;575;p33"/>
          <p:cNvGrpSpPr/>
          <p:nvPr/>
        </p:nvGrpSpPr>
        <p:grpSpPr>
          <a:xfrm>
            <a:off x="4667250" y="2667000"/>
            <a:ext cx="4000500" cy="1714500"/>
            <a:chOff x="4667250" y="2667000"/>
            <a:chExt cx="4000500" cy="1714500"/>
          </a:xfrm>
        </p:grpSpPr>
        <p:sp>
          <p:nvSpPr>
            <p:cNvPr id="576" name="Google Shape;576;p33"/>
            <p:cNvSpPr/>
            <p:nvPr/>
          </p:nvSpPr>
          <p:spPr>
            <a:xfrm>
              <a:off x="4667250" y="2667000"/>
              <a:ext cx="40005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4667250" y="2667000"/>
              <a:ext cx="4000500" cy="381000"/>
            </a:xfrm>
            <a:prstGeom prst="roundRect">
              <a:avLst>
                <a:gd name="adj" fmla="val 25000"/>
              </a:avLst>
            </a:prstGeom>
            <a:solidFill>
              <a:srgbClr val="0B6374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/>
            <p:cNvSpPr txBox="1"/>
            <p:nvPr/>
          </p:nvSpPr>
          <p:spPr>
            <a:xfrm>
              <a:off x="4810125" y="2696210"/>
              <a:ext cx="28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rgbClr val="0B637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79" name="Google Shape;579;p33"/>
            <p:cNvSpPr txBox="1"/>
            <p:nvPr/>
          </p:nvSpPr>
          <p:spPr>
            <a:xfrm>
              <a:off x="5143500" y="266700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Struggling with Extremes</a:t>
              </a:r>
              <a:endParaRPr sz="1400" b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80" name="Google Shape;580;p33"/>
            <p:cNvSpPr txBox="1"/>
            <p:nvPr/>
          </p:nvSpPr>
          <p:spPr>
            <a:xfrm>
              <a:off x="4857750" y="3143250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Outlier Impact:</a:t>
              </a:r>
              <a:r>
                <a:rPr lang="en" sz="1100">
                  <a:solidFill>
                    <a:srgbClr val="424242"/>
                  </a:solidFill>
                  <a:latin typeface="Maven Pro"/>
                  <a:ea typeface="Maven Pro"/>
                  <a:cs typeface="Maven Pro"/>
                  <a:sym typeface="Maven Pro"/>
                </a:rPr>
                <a:t> Average error is ~$43,000, but RMSE jumps to &gt;$63,000 due to outliers.</a:t>
              </a:r>
              <a:endParaRPr sz="11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 i="1">
                  <a:solidFill>
                    <a:srgbClr val="0B6374"/>
                  </a:solidFill>
                  <a:latin typeface="Maven Pro"/>
                  <a:ea typeface="Maven Pro"/>
                  <a:cs typeface="Maven Pro"/>
                  <a:sym typeface="Maven Pro"/>
                </a:rPr>
                <a:t>High "strict penalty" error reveals sensitivity to extreme housing prices.</a:t>
              </a:r>
              <a:endParaRPr sz="1100" i="1">
                <a:solidFill>
                  <a:srgbClr val="0B6374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81" name="Google Shape;581;p33"/>
          <p:cNvGrpSpPr/>
          <p:nvPr/>
        </p:nvGrpSpPr>
        <p:grpSpPr>
          <a:xfrm>
            <a:off x="476250" y="4572000"/>
            <a:ext cx="8191500" cy="381000"/>
            <a:chOff x="476250" y="4572000"/>
            <a:chExt cx="8191500" cy="381000"/>
          </a:xfrm>
        </p:grpSpPr>
        <p:sp>
          <p:nvSpPr>
            <p:cNvPr id="582" name="Google Shape;582;p33"/>
            <p:cNvSpPr/>
            <p:nvPr/>
          </p:nvSpPr>
          <p:spPr>
            <a:xfrm>
              <a:off x="476250" y="4572000"/>
              <a:ext cx="8191500" cy="381000"/>
            </a:xfrm>
            <a:prstGeom prst="roundRect">
              <a:avLst>
                <a:gd name="adj" fmla="val 12500"/>
              </a:avLst>
            </a:prstGeom>
            <a:solidFill>
              <a:srgbClr val="8DD8D3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 txBox="1"/>
            <p:nvPr/>
          </p:nvSpPr>
          <p:spPr>
            <a:xfrm>
              <a:off x="476250" y="45720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24242"/>
                  </a:solidFill>
                  <a:latin typeface="Maven Pro Medium"/>
                  <a:ea typeface="Maven Pro Medium"/>
                  <a:cs typeface="Maven Pro Medium"/>
                  <a:sym typeface="Maven Pro Medium"/>
                </a:rPr>
                <a:t>Addressing these limitations is key to improving model reliability for real-world deployment.</a:t>
              </a:r>
              <a:endParaRPr sz="1100" b="0">
                <a:solidFill>
                  <a:srgbClr val="424242"/>
                </a:solidFill>
                <a:latin typeface="Maven Pro Medium"/>
                <a:ea typeface="Maven Pro Medium"/>
                <a:cs typeface="Maven Pro Medium"/>
                <a:sym typeface="Maven Pro Medium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4"/>
          <p:cNvSpPr txBox="1">
            <a:spLocks noGrp="1"/>
          </p:cNvSpPr>
          <p:nvPr>
            <p:ph type="title"/>
          </p:nvPr>
        </p:nvSpPr>
        <p:spPr>
          <a:xfrm>
            <a:off x="1303800" y="64975"/>
            <a:ext cx="7030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MODEL IMPROVEMENTS</a:t>
            </a:r>
            <a:endParaRPr/>
          </a:p>
        </p:txBody>
      </p:sp>
      <p:sp>
        <p:nvSpPr>
          <p:cNvPr id="589" name="Google Shape;589;p34"/>
          <p:cNvSpPr txBox="1">
            <a:spLocks noGrp="1"/>
          </p:cNvSpPr>
          <p:nvPr>
            <p:ph type="body" idx="1"/>
          </p:nvPr>
        </p:nvSpPr>
        <p:spPr>
          <a:xfrm>
            <a:off x="541375" y="996200"/>
            <a:ext cx="4117200" cy="3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"/>
                <a:ea typeface="Maven Pro"/>
                <a:cs typeface="Maven Pro"/>
                <a:sym typeface="Maven Pro"/>
              </a:rPr>
              <a:t>V</a:t>
            </a:r>
            <a:r>
              <a:rPr lang="en" sz="10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Gradient Boosting (XBoost / LightGBM)</a:t>
            </a:r>
            <a:endParaRPr sz="10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Tree-based ensembles typically outperform plain Neural </a:t>
            </a:r>
            <a:r>
              <a:rPr lang="en" sz="11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Gradient </a:t>
            </a:r>
            <a:endParaRPr sz="1100" b="1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Boosting (XGBoost / LightGBM)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Tree-based ensembles typically outperform plain Neural Networks on tabular data with mixed feature types. Lower training time and built-in feature importance provide a strong baseline to beat.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Robust OLS (HC3 Standard Errors)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Address detected heteroscedasticity by switching to heteroscedasticity consistent standard errors. Maintains interpretability while producing statistically valid coefficient confidence intervals.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Segmented Models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Train separate models per price tier (budget / mid-market / luxury) and per region (Bay Area, LA, Central Valley). Reduces within-segment variance and improves accuracy for each sub-market.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Hyperparameter Tuning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Apply grid search or Bayesian optimization to the Neural Network (layers, neurons, dropout, learning rate). Even modest tuning often yields 3–7% R² gains with the same architecture.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90" name="Google Shape;590;p34"/>
          <p:cNvSpPr txBox="1">
            <a:spLocks noGrp="1"/>
          </p:cNvSpPr>
          <p:nvPr>
            <p:ph type="body" idx="2"/>
          </p:nvPr>
        </p:nvSpPr>
        <p:spPr>
          <a:xfrm>
            <a:off x="4827850" y="1429225"/>
            <a:ext cx="4117200" cy="35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Cross-Validation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Replace single train/test split with 5-fold or 10-fold cross-validation. 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SHAP Explainability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Use SHAP (SHapley Additive exPlanations) to generate per-prediction feature contributions. 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Threshold-Based Alerts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Define acceptable prediction error bands (e.g., ±15%). Flag predictions outside this band for human review rather than passing them directly to clients, improving reliability at deployment.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Benchmark Against Zillow Zestimate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Compare model MAE against publicly reported Zestimate accuracy (~2–4% median error). This positions the model in competitive context and identifies the gap to close in</a:t>
            </a:r>
            <a:r>
              <a:rPr lang="en" sz="19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48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future iterations.</a:t>
            </a:r>
            <a:endParaRPr sz="48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91" name="Google Shape;5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25" y="801175"/>
            <a:ext cx="4117075" cy="6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650" y="801175"/>
            <a:ext cx="3748250" cy="6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4"/>
          <p:cNvSpPr txBox="1"/>
          <p:nvPr/>
        </p:nvSpPr>
        <p:spPr>
          <a:xfrm>
            <a:off x="1570050" y="909450"/>
            <a:ext cx="411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Better Models</a:t>
            </a:r>
            <a:endParaRPr sz="1300" b="1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5813225" y="892000"/>
            <a:ext cx="411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Better Evaluation</a:t>
            </a:r>
            <a:endParaRPr sz="1300" b="1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Microsoft Macintosh PowerPoint</Application>
  <PresentationFormat>On-screen Show (16:9)</PresentationFormat>
  <Paragraphs>172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Maven Pro</vt:lpstr>
      <vt:lpstr>Material Icons</vt:lpstr>
      <vt:lpstr>Calibri</vt:lpstr>
      <vt:lpstr>Georgia</vt:lpstr>
      <vt:lpstr>Arial</vt:lpstr>
      <vt:lpstr>Maven Pro Medium</vt:lpstr>
      <vt:lpstr>Nunito</vt:lpstr>
      <vt:lpstr>Maven Pro SemiBold</vt:lpstr>
      <vt:lpstr>Momentum</vt:lpstr>
      <vt:lpstr>Final Presentation: California Home Price Prediction</vt:lpstr>
      <vt:lpstr>PowerPoint Presentation</vt:lpstr>
      <vt:lpstr>DATASET OVERVIEW</vt:lpstr>
      <vt:lpstr>FEATURES &amp; TARGET VARIABLE</vt:lpstr>
      <vt:lpstr>PROJECT OBJECTIVES</vt:lpstr>
      <vt:lpstr>KEY DATA OBSERVATIONS </vt:lpstr>
      <vt:lpstr>MEDIAN_HOUSE_VALUE</vt:lpstr>
      <vt:lpstr>HEATMAP</vt:lpstr>
      <vt:lpstr>TARGET VISUILIZATIONS </vt:lpstr>
      <vt:lpstr>PowerPoint Presentation</vt:lpstr>
      <vt:lpstr>PowerPoint Presentation</vt:lpstr>
      <vt:lpstr>Conclusions</vt:lpstr>
      <vt:lpstr>PowerPoint Presentation</vt:lpstr>
      <vt:lpstr>PowerPoint Presentation</vt:lpstr>
      <vt:lpstr>PowerPoint Presentation</vt:lpstr>
      <vt:lpstr>FUTURE MODEL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Alia Alami</cp:lastModifiedBy>
  <cp:revision>3</cp:revision>
  <dcterms:modified xsi:type="dcterms:W3CDTF">2026-09-13T14:25:00Z</dcterms:modified>
</cp:coreProperties>
</file>